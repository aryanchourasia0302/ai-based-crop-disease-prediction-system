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6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34440"/>
            <a:ext cx="10241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7613F"/>
                </a:solidFill>
                <a:latin typeface="Aptos Display"/>
              </a:defRPr>
            </a:pPr>
            <a:r>
              <a:t>🌿 VERDANT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2316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>
                <a:solidFill>
                  <a:srgbClr val="193B2A"/>
                </a:solidFill>
                <a:latin typeface="Georgia"/>
              </a:defRPr>
            </a:pPr>
            <a:r>
              <a:t>AI-Based Crop Management &amp; Disease Advisory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886200"/>
            <a:ext cx="81381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800">
                <a:solidFill>
                  <a:srgbClr val="505C52"/>
                </a:solidFill>
                <a:latin typeface="Aptos"/>
              </a:defRPr>
            </a:pPr>
            <a:r>
              <a:t>Presented by: Aryan Chourasia</a:t>
            </a:r>
          </a:p>
          <a:p>
            <a:pPr algn="ctr">
              <a:spcAft>
                <a:spcPts val="800"/>
              </a:spcAft>
              <a:defRPr sz="1800">
                <a:solidFill>
                  <a:srgbClr val="505C52"/>
                </a:solidFill>
                <a:latin typeface="Aptos"/>
              </a:defRPr>
            </a:pPr>
            <a:r>
              <a:t>Roll No.: 2501320100070</a:t>
            </a:r>
          </a:p>
          <a:p>
            <a:pPr algn="ctr">
              <a:spcAft>
                <a:spcPts val="800"/>
              </a:spcAft>
              <a:defRPr sz="1800">
                <a:solidFill>
                  <a:srgbClr val="505C52"/>
                </a:solidFill>
                <a:latin typeface="Aptos"/>
              </a:defRPr>
            </a:pPr>
            <a:r>
              <a:t>Greater Noida Institute of Technology</a:t>
            </a:r>
          </a:p>
          <a:p>
            <a:pPr algn="ctr">
              <a:spcAft>
                <a:spcPts val="800"/>
              </a:spcAft>
              <a:defRPr sz="1800">
                <a:solidFill>
                  <a:srgbClr val="505C52"/>
                </a:solidFill>
                <a:latin typeface="Aptos"/>
              </a:defRPr>
            </a:pPr>
            <a:r>
              <a:t>Guided by: Khushi Rattan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46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78"/>
                </a:solidFill>
              </a:defRPr>
            </a:pPr>
            <a: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6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B2A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344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695E"/>
                </a:solidFill>
                <a:latin typeface="Aptos"/>
              </a:defRPr>
            </a:pPr>
            <a:r>
              <a:t>Challenges in Crop Disease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07899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8D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100584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37463C"/>
                </a:solidFill>
                <a:latin typeface="Aptos"/>
              </a:defRPr>
            </a:pPr>
            <a:r>
              <a:t>• Crop diseases can reduce yield and crop quality.</a:t>
            </a:r>
          </a:p>
          <a:p>
            <a:pPr>
              <a:spcAft>
                <a:spcPts val="1500"/>
              </a:spcAft>
              <a:defRPr sz="2100">
                <a:solidFill>
                  <a:srgbClr val="37463C"/>
                </a:solidFill>
                <a:latin typeface="Aptos"/>
              </a:defRPr>
            </a:pPr>
            <a:r>
              <a:t>• Early identification is difficult without expert support.</a:t>
            </a:r>
          </a:p>
          <a:p>
            <a:pPr>
              <a:spcAft>
                <a:spcPts val="1500"/>
              </a:spcAft>
              <a:defRPr sz="2100">
                <a:solidFill>
                  <a:srgbClr val="37463C"/>
                </a:solidFill>
                <a:latin typeface="Aptos"/>
              </a:defRPr>
            </a:pPr>
            <a:r>
              <a:t>• Farmers may struggle to understand treatment and prevention options.</a:t>
            </a:r>
          </a:p>
          <a:p>
            <a:pPr>
              <a:spcAft>
                <a:spcPts val="1500"/>
              </a:spcAft>
              <a:defRPr sz="2100">
                <a:solidFill>
                  <a:srgbClr val="37463C"/>
                </a:solidFill>
                <a:latin typeface="Aptos"/>
              </a:defRPr>
            </a:pPr>
            <a:r>
              <a:t>• A simple AI-assisted advisory system can provide faster, understandable guidance.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446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78"/>
                </a:solidFill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6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B2A"/>
                </a:solidFill>
                <a:latin typeface="Aptos Display"/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344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695E"/>
                </a:solidFill>
                <a:latin typeface="Aptos"/>
              </a:defRPr>
            </a:pPr>
            <a:r>
              <a:t>What Verdant Aims to Achieve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07899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8D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100584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37463C"/>
                </a:solidFill>
                <a:latin typeface="Aptos"/>
              </a:defRPr>
            </a:pPr>
            <a:r>
              <a:t>• Provide an easy crop-image upload and analysis interface.</a:t>
            </a:r>
          </a:p>
          <a:p>
            <a:pPr>
              <a:spcAft>
                <a:spcPts val="1500"/>
              </a:spcAft>
              <a:defRPr sz="2100">
                <a:solidFill>
                  <a:srgbClr val="37463C"/>
                </a:solidFill>
                <a:latin typeface="Aptos"/>
              </a:defRPr>
            </a:pPr>
            <a:r>
              <a:t>• Identify crop disease through an image-based prediction module.</a:t>
            </a:r>
          </a:p>
          <a:p>
            <a:pPr>
              <a:spcAft>
                <a:spcPts val="1500"/>
              </a:spcAft>
              <a:defRPr sz="2100">
                <a:solidFill>
                  <a:srgbClr val="37463C"/>
                </a:solidFill>
                <a:latin typeface="Aptos"/>
              </a:defRPr>
            </a:pPr>
            <a:r>
              <a:t>• Show prediction confidence and severity.</a:t>
            </a:r>
          </a:p>
          <a:p>
            <a:pPr>
              <a:spcAft>
                <a:spcPts val="1500"/>
              </a:spcAft>
              <a:defRPr sz="2100">
                <a:solidFill>
                  <a:srgbClr val="37463C"/>
                </a:solidFill>
                <a:latin typeface="Aptos"/>
              </a:defRPr>
            </a:pPr>
            <a:r>
              <a:t>• Generate practical AI-based treatment and prevention advice.</a:t>
            </a:r>
          </a:p>
          <a:p>
            <a:pPr>
              <a:spcAft>
                <a:spcPts val="1500"/>
              </a:spcAft>
              <a:defRPr sz="2100">
                <a:solidFill>
                  <a:srgbClr val="37463C"/>
                </a:solidFill>
                <a:latin typeface="Aptos"/>
              </a:defRPr>
            </a:pPr>
            <a:r>
              <a:t>• Make agricultural guidance easier to understand and act upon.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446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78"/>
                </a:solidFill>
              </a:defRPr>
            </a:pPr>
            <a: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6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B2A"/>
                </a:solidFill>
                <a:latin typeface="Aptos Display"/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344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695E"/>
                </a:solidFill>
                <a:latin typeface="Aptos"/>
              </a:defRPr>
            </a:pPr>
            <a:r>
              <a:t>How Verdant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07899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8D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100584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37463C"/>
                </a:solidFill>
                <a:latin typeface="Aptos"/>
              </a:defRPr>
            </a:pPr>
            <a:r>
              <a:t>• User uploads a clear crop or leaf image.</a:t>
            </a:r>
          </a:p>
          <a:p>
            <a:pPr>
              <a:spcAft>
                <a:spcPts val="1500"/>
              </a:spcAft>
              <a:defRPr sz="2100">
                <a:solidFill>
                  <a:srgbClr val="37463C"/>
                </a:solidFill>
                <a:latin typeface="Aptos"/>
              </a:defRPr>
            </a:pPr>
            <a:r>
              <a:t>• The disease prediction module analyzes the image.</a:t>
            </a:r>
          </a:p>
          <a:p>
            <a:pPr>
              <a:spcAft>
                <a:spcPts val="1500"/>
              </a:spcAft>
              <a:defRPr sz="2100">
                <a:solidFill>
                  <a:srgbClr val="37463C"/>
                </a:solidFill>
                <a:latin typeface="Aptos"/>
              </a:defRPr>
            </a:pPr>
            <a:r>
              <a:t>• The system obtains crop, disease, confidence and severity information.</a:t>
            </a:r>
          </a:p>
          <a:p>
            <a:pPr>
              <a:spcAft>
                <a:spcPts val="1500"/>
              </a:spcAft>
              <a:defRPr sz="2100">
                <a:solidFill>
                  <a:srgbClr val="37463C"/>
                </a:solidFill>
                <a:latin typeface="Aptos"/>
              </a:defRPr>
            </a:pPr>
            <a:r>
              <a:t>• Groq-powered AI generates personalized crop-management advice.</a:t>
            </a:r>
          </a:p>
          <a:p>
            <a:pPr>
              <a:spcAft>
                <a:spcPts val="1500"/>
              </a:spcAft>
              <a:defRPr sz="2100">
                <a:solidFill>
                  <a:srgbClr val="37463C"/>
                </a:solidFill>
                <a:latin typeface="Aptos"/>
              </a:defRPr>
            </a:pPr>
            <a:r>
              <a:t>• Results are displayed through an interactive web interface.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446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78"/>
                </a:solidFill>
              </a:defRPr>
            </a:pPr>
            <a: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6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B2A"/>
                </a:solidFill>
                <a:latin typeface="Aptos Display"/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344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695E"/>
                </a:solidFill>
                <a:latin typeface="Aptos"/>
              </a:defRPr>
            </a:pPr>
            <a:r>
              <a:t>Core Capabilities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07899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8D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100584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37463C"/>
                </a:solidFill>
                <a:latin typeface="Aptos"/>
              </a:defRPr>
            </a:pPr>
            <a:r>
              <a:t>• 📷 Crop/leaf image upload and preview</a:t>
            </a:r>
          </a:p>
          <a:p>
            <a:pPr>
              <a:spcAft>
                <a:spcPts val="1500"/>
              </a:spcAft>
              <a:defRPr sz="1800">
                <a:solidFill>
                  <a:srgbClr val="37463C"/>
                </a:solidFill>
                <a:latin typeface="Aptos"/>
              </a:defRPr>
            </a:pPr>
            <a:r>
              <a:t>• 🔍 Disease prediction interface</a:t>
            </a:r>
          </a:p>
          <a:p>
            <a:pPr>
              <a:spcAft>
                <a:spcPts val="1500"/>
              </a:spcAft>
              <a:defRPr sz="1800">
                <a:solidFill>
                  <a:srgbClr val="37463C"/>
                </a:solidFill>
                <a:latin typeface="Aptos"/>
              </a:defRPr>
            </a:pPr>
            <a:r>
              <a:t>• 📊 Confidence and severity display</a:t>
            </a:r>
          </a:p>
          <a:p>
            <a:pPr>
              <a:spcAft>
                <a:spcPts val="1500"/>
              </a:spcAft>
              <a:defRPr sz="1800">
                <a:solidFill>
                  <a:srgbClr val="37463C"/>
                </a:solidFill>
                <a:latin typeface="Aptos"/>
              </a:defRPr>
            </a:pPr>
            <a:r>
              <a:t>• 🤖 AI-powered agricultural advisory</a:t>
            </a:r>
          </a:p>
          <a:p>
            <a:pPr>
              <a:spcAft>
                <a:spcPts val="1500"/>
              </a:spcAft>
              <a:defRPr sz="1800">
                <a:solidFill>
                  <a:srgbClr val="37463C"/>
                </a:solidFill>
                <a:latin typeface="Aptos"/>
              </a:defRPr>
            </a:pPr>
            <a:r>
              <a:t>• 🌿 Organic treatment suggestions</a:t>
            </a:r>
          </a:p>
          <a:p>
            <a:pPr>
              <a:spcAft>
                <a:spcPts val="1500"/>
              </a:spcAft>
              <a:defRPr sz="1800">
                <a:solidFill>
                  <a:srgbClr val="37463C"/>
                </a:solidFill>
                <a:latin typeface="Aptos"/>
              </a:defRPr>
            </a:pPr>
            <a:r>
              <a:t>• 🛡️ Prevention and crop-risk guidance</a:t>
            </a:r>
          </a:p>
          <a:p>
            <a:pPr>
              <a:spcAft>
                <a:spcPts val="1500"/>
              </a:spcAft>
              <a:defRPr sz="1800">
                <a:solidFill>
                  <a:srgbClr val="37463C"/>
                </a:solidFill>
                <a:latin typeface="Aptos"/>
              </a:defRPr>
            </a:pPr>
            <a:r>
              <a:t>• 🔄 Clear and analyze another 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446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78"/>
                </a:solidFill>
              </a:defRPr>
            </a:pPr>
            <a: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6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B2A"/>
                </a:solidFill>
                <a:latin typeface="Aptos Display"/>
              </a:defRPr>
            </a:pPr>
            <a:r>
              <a:t>AI Advisory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344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695E"/>
                </a:solidFill>
                <a:latin typeface="Aptos"/>
              </a:defRPr>
            </a:pPr>
            <a:r>
              <a:t>Six Questions Answered by Verdant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07899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8D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100584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37463C"/>
                </a:solidFill>
                <a:latin typeface="Aptos"/>
              </a:defRPr>
            </a:pPr>
            <a:r>
              <a:t>• 1. What caused this?</a:t>
            </a:r>
          </a:p>
          <a:p>
            <a:pPr>
              <a:spcAft>
                <a:spcPts val="1500"/>
              </a:spcAft>
              <a:defRPr sz="1800">
                <a:solidFill>
                  <a:srgbClr val="37463C"/>
                </a:solidFill>
                <a:latin typeface="Aptos"/>
              </a:defRPr>
            </a:pPr>
            <a:r>
              <a:t>• 2. How can I treat it?</a:t>
            </a:r>
          </a:p>
          <a:p>
            <a:pPr>
              <a:spcAft>
                <a:spcPts val="1500"/>
              </a:spcAft>
              <a:defRPr sz="1800">
                <a:solidFill>
                  <a:srgbClr val="37463C"/>
                </a:solidFill>
                <a:latin typeface="Aptos"/>
              </a:defRPr>
            </a:pPr>
            <a:r>
              <a:t>• 3. Can I use an organic treatment?</a:t>
            </a:r>
          </a:p>
          <a:p>
            <a:pPr>
              <a:spcAft>
                <a:spcPts val="1500"/>
              </a:spcAft>
              <a:defRPr sz="1800">
                <a:solidFill>
                  <a:srgbClr val="37463C"/>
                </a:solidFill>
                <a:latin typeface="Aptos"/>
              </a:defRPr>
            </a:pPr>
            <a:r>
              <a:t>• 4. How often should I apply the treatment?</a:t>
            </a:r>
          </a:p>
          <a:p>
            <a:pPr>
              <a:spcAft>
                <a:spcPts val="1500"/>
              </a:spcAft>
              <a:defRPr sz="1800">
                <a:solidFill>
                  <a:srgbClr val="37463C"/>
                </a:solidFill>
                <a:latin typeface="Aptos"/>
              </a:defRPr>
            </a:pPr>
            <a:r>
              <a:t>• 5. How can I prevent it next season?</a:t>
            </a:r>
          </a:p>
          <a:p>
            <a:pPr>
              <a:spcAft>
                <a:spcPts val="1500"/>
              </a:spcAft>
              <a:defRPr sz="1800">
                <a:solidFill>
                  <a:srgbClr val="37463C"/>
                </a:solidFill>
                <a:latin typeface="Aptos"/>
              </a:defRPr>
            </a:pPr>
            <a:r>
              <a:t>• 6. Is this dangerous for my whole crop?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446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78"/>
                </a:solidFill>
              </a:defRPr>
            </a:pPr>
            <a: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6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B2A"/>
                </a:solidFill>
                <a:latin typeface="Aptos Display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344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695E"/>
                </a:solidFill>
                <a:latin typeface="Aptos"/>
              </a:defRPr>
            </a:pPr>
            <a:r>
              <a:t>Technologies Used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07899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8D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100584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37463C"/>
                </a:solidFill>
                <a:latin typeface="Aptos"/>
              </a:defRPr>
            </a:pPr>
            <a:r>
              <a:t>• Frontend: HTML5, CSS3 and JavaScript</a:t>
            </a:r>
          </a:p>
          <a:p>
            <a:pPr>
              <a:spcAft>
                <a:spcPts val="1500"/>
              </a:spcAft>
              <a:defRPr sz="1800">
                <a:solidFill>
                  <a:srgbClr val="37463C"/>
                </a:solidFill>
                <a:latin typeface="Aptos"/>
              </a:defRPr>
            </a:pPr>
            <a:r>
              <a:t>• Backend: Node.js HTTP server</a:t>
            </a:r>
          </a:p>
          <a:p>
            <a:pPr>
              <a:spcAft>
                <a:spcPts val="1500"/>
              </a:spcAft>
              <a:defRPr sz="1800">
                <a:solidFill>
                  <a:srgbClr val="37463C"/>
                </a:solidFill>
                <a:latin typeface="Aptos"/>
              </a:defRPr>
            </a:pPr>
            <a:r>
              <a:t>• AI: Groq API and Groq SDK</a:t>
            </a:r>
          </a:p>
          <a:p>
            <a:pPr>
              <a:spcAft>
                <a:spcPts val="1500"/>
              </a:spcAft>
              <a:defRPr sz="1800">
                <a:solidFill>
                  <a:srgbClr val="37463C"/>
                </a:solidFill>
                <a:latin typeface="Aptos"/>
              </a:defRPr>
            </a:pPr>
            <a:r>
              <a:t>• Data exchange: JSON</a:t>
            </a:r>
          </a:p>
          <a:p>
            <a:pPr>
              <a:spcAft>
                <a:spcPts val="1500"/>
              </a:spcAft>
              <a:defRPr sz="1800">
                <a:solidFill>
                  <a:srgbClr val="37463C"/>
                </a:solidFill>
                <a:latin typeface="Aptos"/>
              </a:defRPr>
            </a:pPr>
            <a:r>
              <a:t>• Development: Visual Studio Code</a:t>
            </a:r>
          </a:p>
          <a:p>
            <a:pPr>
              <a:spcAft>
                <a:spcPts val="1500"/>
              </a:spcAft>
              <a:defRPr sz="1800">
                <a:solidFill>
                  <a:srgbClr val="37463C"/>
                </a:solidFill>
                <a:latin typeface="Aptos"/>
              </a:defRPr>
            </a:pPr>
            <a:r>
              <a:t>• Environment: Local Node.js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446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78"/>
                </a:solidFill>
              </a:defRPr>
            </a:pPr>
            <a: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6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B2A"/>
                </a:solidFill>
                <a:latin typeface="Aptos Display"/>
              </a:defRPr>
            </a:pPr>
            <a:r>
              <a:t>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344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695E"/>
                </a:solidFill>
                <a:latin typeface="Aptos"/>
              </a:defRPr>
            </a:pPr>
            <a:r>
              <a:t>End-to-End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07899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8D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100584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37463C"/>
                </a:solidFill>
                <a:latin typeface="Aptos"/>
              </a:defRPr>
            </a:pPr>
            <a:r>
              <a:t>• Crop Image → Upload &amp; Preview → Disease Prediction</a:t>
            </a:r>
          </a:p>
          <a:p>
            <a:pPr>
              <a:spcAft>
                <a:spcPts val="1500"/>
              </a:spcAft>
              <a:defRPr sz="2100">
                <a:solidFill>
                  <a:srgbClr val="37463C"/>
                </a:solidFill>
                <a:latin typeface="Aptos"/>
              </a:defRPr>
            </a:pPr>
            <a:r>
              <a:t>• Disease + Crop + Severity → Backend API</a:t>
            </a:r>
          </a:p>
          <a:p>
            <a:pPr>
              <a:spcAft>
                <a:spcPts val="1500"/>
              </a:spcAft>
              <a:defRPr sz="2100">
                <a:solidFill>
                  <a:srgbClr val="37463C"/>
                </a:solidFill>
                <a:latin typeface="Aptos"/>
              </a:defRPr>
            </a:pPr>
            <a:r>
              <a:t>• Backend → Groq AI → Structured JSON Advisory</a:t>
            </a:r>
          </a:p>
          <a:p>
            <a:pPr>
              <a:spcAft>
                <a:spcPts val="1500"/>
              </a:spcAft>
              <a:defRPr sz="2100">
                <a:solidFill>
                  <a:srgbClr val="37463C"/>
                </a:solidFill>
                <a:latin typeface="Aptos"/>
              </a:defRPr>
            </a:pPr>
            <a:r>
              <a:t>• Frontend → Interactive six-question advisory</a:t>
            </a:r>
          </a:p>
          <a:p>
            <a:pPr>
              <a:spcAft>
                <a:spcPts val="1500"/>
              </a:spcAft>
              <a:defRPr sz="2100">
                <a:solidFill>
                  <a:srgbClr val="37463C"/>
                </a:solidFill>
                <a:latin typeface="Aptos"/>
              </a:defRPr>
            </a:pPr>
            <a:r>
              <a:t>• User → Treatment, prevention and risk information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446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78"/>
                </a:solidFill>
              </a:defRPr>
            </a:pPr>
            <a: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6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B2A"/>
                </a:solidFill>
                <a:latin typeface="Aptos Display"/>
              </a:defRPr>
            </a:pPr>
            <a:r>
              <a:t>Current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344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695E"/>
                </a:solidFill>
                <a:latin typeface="Aptos"/>
              </a:defRPr>
            </a:pPr>
            <a:r>
              <a:t>Demonstration Status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07899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8D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100584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37463C"/>
                </a:solidFill>
                <a:latin typeface="Aptos"/>
              </a:defRPr>
            </a:pPr>
            <a:r>
              <a:t>• The current interface demonstrates the complete user experience.</a:t>
            </a:r>
          </a:p>
          <a:p>
            <a:pPr>
              <a:spcAft>
                <a:spcPts val="1500"/>
              </a:spcAft>
              <a:defRPr sz="2100">
                <a:solidFill>
                  <a:srgbClr val="37463C"/>
                </a:solidFill>
                <a:latin typeface="Aptos"/>
              </a:defRPr>
            </a:pPr>
            <a:r>
              <a:t>• The prototype can display a sample prediction such as:</a:t>
            </a:r>
          </a:p>
          <a:p>
            <a:pPr>
              <a:spcAft>
                <a:spcPts val="1500"/>
              </a:spcAft>
              <a:defRPr sz="2100">
                <a:solidFill>
                  <a:srgbClr val="37463C"/>
                </a:solidFill>
                <a:latin typeface="Aptos"/>
              </a:defRPr>
            </a:pPr>
            <a:r>
              <a:t>• Tomato — Septoria leaf spot</a:t>
            </a:r>
          </a:p>
          <a:p>
            <a:pPr>
              <a:spcAft>
                <a:spcPts val="1500"/>
              </a:spcAft>
              <a:defRPr sz="2100">
                <a:solidFill>
                  <a:srgbClr val="37463C"/>
                </a:solidFill>
                <a:latin typeface="Aptos"/>
              </a:defRPr>
            </a:pPr>
            <a:r>
              <a:t>• 96% confidence · Severe</a:t>
            </a:r>
          </a:p>
          <a:p>
            <a:pPr>
              <a:spcAft>
                <a:spcPts val="1500"/>
              </a:spcAft>
              <a:defRPr sz="2100">
                <a:solidFill>
                  <a:srgbClr val="37463C"/>
                </a:solidFill>
                <a:latin typeface="Aptos"/>
              </a:defRPr>
            </a:pPr>
            <a:r>
              <a:t>• The next integration step is connecting the upload interface to the actual trained disease-classification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446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78"/>
                </a:solidFill>
              </a:defRPr>
            </a:pPr>
            <a: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6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B2A"/>
                </a:solidFill>
                <a:latin typeface="Aptos Display"/>
              </a:defRPr>
            </a:pPr>
            <a:r>
              <a:t>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344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695E"/>
                </a:solidFill>
                <a:latin typeface="Aptos"/>
              </a:defRPr>
            </a:pPr>
            <a:r>
              <a:t>Why Verdant Is Useful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07899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8D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100584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37463C"/>
                </a:solidFill>
                <a:latin typeface="Aptos"/>
              </a:defRPr>
            </a:pPr>
            <a:r>
              <a:t>• Faster access to understandable crop-management information.</a:t>
            </a:r>
          </a:p>
          <a:p>
            <a:pPr>
              <a:spcAft>
                <a:spcPts val="1500"/>
              </a:spcAft>
              <a:defRPr sz="2100">
                <a:solidFill>
                  <a:srgbClr val="37463C"/>
                </a:solidFill>
                <a:latin typeface="Aptos"/>
              </a:defRPr>
            </a:pPr>
            <a:r>
              <a:t>• Combines prediction results with actionable AI guidance.</a:t>
            </a:r>
          </a:p>
          <a:p>
            <a:pPr>
              <a:spcAft>
                <a:spcPts val="1500"/>
              </a:spcAft>
              <a:defRPr sz="2100">
                <a:solidFill>
                  <a:srgbClr val="37463C"/>
                </a:solidFill>
                <a:latin typeface="Aptos"/>
              </a:defRPr>
            </a:pPr>
            <a:r>
              <a:t>• Simple interface suitable for non-technical users.</a:t>
            </a:r>
          </a:p>
          <a:p>
            <a:pPr>
              <a:spcAft>
                <a:spcPts val="1500"/>
              </a:spcAft>
              <a:defRPr sz="2100">
                <a:solidFill>
                  <a:srgbClr val="37463C"/>
                </a:solidFill>
                <a:latin typeface="Aptos"/>
              </a:defRPr>
            </a:pPr>
            <a:r>
              <a:t>• Supports preventive thinking, not only disease identification.</a:t>
            </a:r>
          </a:p>
          <a:p>
            <a:pPr>
              <a:spcAft>
                <a:spcPts val="1500"/>
              </a:spcAft>
              <a:defRPr sz="2100">
                <a:solidFill>
                  <a:srgbClr val="37463C"/>
                </a:solidFill>
                <a:latin typeface="Aptos"/>
              </a:defRPr>
            </a:pPr>
            <a:r>
              <a:t>• Can be extended to more crops, diseases and languages.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446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78"/>
                </a:solidFill>
              </a:defRPr>
            </a:pPr>
            <a: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6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B2A"/>
                </a:solidFill>
                <a:latin typeface="Aptos Display"/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344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695E"/>
                </a:solidFill>
                <a:latin typeface="Aptos"/>
              </a:defRPr>
            </a:pPr>
            <a:r>
              <a:t>Planned Improvements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07899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8D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100584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37463C"/>
                </a:solidFill>
                <a:latin typeface="Aptos"/>
              </a:defRPr>
            </a:pPr>
            <a:r>
              <a:t>• Connect a real image-classification model.</a:t>
            </a:r>
          </a:p>
          <a:p>
            <a:pPr>
              <a:spcAft>
                <a:spcPts val="1500"/>
              </a:spcAft>
              <a:defRPr sz="1800">
                <a:solidFill>
                  <a:srgbClr val="37463C"/>
                </a:solidFill>
                <a:latin typeface="Aptos"/>
              </a:defRPr>
            </a:pPr>
            <a:r>
              <a:t>• Support more crops and disease classes.</a:t>
            </a:r>
          </a:p>
          <a:p>
            <a:pPr>
              <a:spcAft>
                <a:spcPts val="1500"/>
              </a:spcAft>
              <a:defRPr sz="1800">
                <a:solidFill>
                  <a:srgbClr val="37463C"/>
                </a:solidFill>
                <a:latin typeface="Aptos"/>
              </a:defRPr>
            </a:pPr>
            <a:r>
              <a:t>• Add prediction history and crop-health dashboards.</a:t>
            </a:r>
          </a:p>
          <a:p>
            <a:pPr>
              <a:spcAft>
                <a:spcPts val="1500"/>
              </a:spcAft>
              <a:defRPr sz="1800">
                <a:solidFill>
                  <a:srgbClr val="37463C"/>
                </a:solidFill>
                <a:latin typeface="Aptos"/>
              </a:defRPr>
            </a:pPr>
            <a:r>
              <a:t>• Integrate weather-aware recommendations.</a:t>
            </a:r>
          </a:p>
          <a:p>
            <a:pPr>
              <a:spcAft>
                <a:spcPts val="1500"/>
              </a:spcAft>
              <a:defRPr sz="1800">
                <a:solidFill>
                  <a:srgbClr val="37463C"/>
                </a:solidFill>
                <a:latin typeface="Aptos"/>
              </a:defRPr>
            </a:pPr>
            <a:r>
              <a:t>• Add multilingual and mobile/PWA support.</a:t>
            </a:r>
          </a:p>
          <a:p>
            <a:pPr>
              <a:spcAft>
                <a:spcPts val="1500"/>
              </a:spcAft>
              <a:defRPr sz="1800">
                <a:solidFill>
                  <a:srgbClr val="37463C"/>
                </a:solidFill>
                <a:latin typeface="Aptos"/>
              </a:defRPr>
            </a:pPr>
            <a:r>
              <a:t>• Explore location-based agricultural guidance.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446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78"/>
                </a:solidFill>
              </a:defRPr>
            </a:pPr>
            <a: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6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B2A"/>
                </a:solidFill>
                <a:latin typeface="Aptos Display"/>
              </a:defRPr>
            </a:pPr>
            <a:r>
              <a:t>Safety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344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695E"/>
                </a:solidFill>
                <a:latin typeface="Aptos"/>
              </a:defRPr>
            </a:pPr>
            <a:r>
              <a:t>Responsible 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07899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8D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100584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37463C"/>
                </a:solidFill>
                <a:latin typeface="Aptos"/>
              </a:defRPr>
            </a:pPr>
            <a:r>
              <a:t>• AI advice should be treated as guidance, not a replacement for agricultural experts.</a:t>
            </a:r>
          </a:p>
          <a:p>
            <a:pPr>
              <a:spcAft>
                <a:spcPts val="1500"/>
              </a:spcAft>
              <a:defRPr sz="2100">
                <a:solidFill>
                  <a:srgbClr val="37463C"/>
                </a:solidFill>
                <a:latin typeface="Aptos"/>
              </a:defRPr>
            </a:pPr>
            <a:r>
              <a:t>• Treatment decisions should consider product labels and local agricultural guidance.</a:t>
            </a:r>
          </a:p>
          <a:p>
            <a:pPr>
              <a:spcAft>
                <a:spcPts val="1500"/>
              </a:spcAft>
              <a:defRPr sz="2100">
                <a:solidFill>
                  <a:srgbClr val="37463C"/>
                </a:solidFill>
                <a:latin typeface="Aptos"/>
              </a:defRPr>
            </a:pPr>
            <a:r>
              <a:t>• The system should avoid inventing chemical doses.</a:t>
            </a:r>
          </a:p>
          <a:p>
            <a:pPr>
              <a:spcAft>
                <a:spcPts val="1500"/>
              </a:spcAft>
              <a:defRPr sz="2100">
                <a:solidFill>
                  <a:srgbClr val="37463C"/>
                </a:solidFill>
                <a:latin typeface="Aptos"/>
              </a:defRPr>
            </a:pPr>
            <a:r>
              <a:t>• Prediction accuracy depends on image quality and the underlying model.</a:t>
            </a:r>
          </a:p>
          <a:p>
            <a:pPr>
              <a:spcAft>
                <a:spcPts val="1500"/>
              </a:spcAft>
              <a:defRPr sz="2100">
                <a:solidFill>
                  <a:srgbClr val="37463C"/>
                </a:solidFill>
                <a:latin typeface="Aptos"/>
              </a:defRPr>
            </a:pPr>
            <a:r>
              <a:t>• Professional verification is recommended for uncertain or serious cases.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446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78"/>
                </a:solidFill>
              </a:defRPr>
            </a:pPr>
            <a: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6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B2A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344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695E"/>
                </a:solidFill>
                <a:latin typeface="Aptos"/>
              </a:defRPr>
            </a:pPr>
            <a:r>
              <a:t>Verdant: Detect • Understand • Treat • Prevent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07899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8D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100584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37463C"/>
                </a:solidFill>
                <a:latin typeface="Aptos"/>
              </a:defRPr>
            </a:pPr>
            <a:r>
              <a:t>• Verdant combines image-based crop disease detection with an AI agricultural advisor.</a:t>
            </a:r>
          </a:p>
          <a:p>
            <a:pPr>
              <a:spcAft>
                <a:spcPts val="1500"/>
              </a:spcAft>
              <a:defRPr sz="2100">
                <a:solidFill>
                  <a:srgbClr val="37463C"/>
                </a:solidFill>
                <a:latin typeface="Aptos"/>
              </a:defRPr>
            </a:pPr>
            <a:r>
              <a:t>• It turns a prediction into practical, easy-to-understand next steps.</a:t>
            </a:r>
          </a:p>
          <a:p>
            <a:pPr>
              <a:spcAft>
                <a:spcPts val="1500"/>
              </a:spcAft>
              <a:defRPr sz="2100">
                <a:solidFill>
                  <a:srgbClr val="37463C"/>
                </a:solidFill>
                <a:latin typeface="Aptos"/>
              </a:defRPr>
            </a:pPr>
            <a:r>
              <a:t>• The project provides a foundation for a scalable smart crop-management platform.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446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78"/>
                </a:solidFill>
              </a:defRPr>
            </a:pPr>
            <a: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6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B2A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344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695E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4183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400"/>
              </a:spcAft>
              <a:defRPr sz="2300" b="1">
                <a:solidFill>
                  <a:srgbClr val="193B2A"/>
                </a:solidFill>
                <a:latin typeface="Aptos"/>
              </a:defRPr>
            </a:pPr>
            <a:r>
              <a:t>Aryan Chourasia</a:t>
            </a:r>
          </a:p>
          <a:p>
            <a:pPr algn="ctr">
              <a:spcAft>
                <a:spcPts val="1400"/>
              </a:spcAft>
              <a:defRPr sz="1800" b="0">
                <a:solidFill>
                  <a:srgbClr val="193B2A"/>
                </a:solidFill>
                <a:latin typeface="Aptos"/>
              </a:defRPr>
            </a:pPr>
            <a:r>
              <a:t>Roll No.: 2501320100070</a:t>
            </a:r>
          </a:p>
          <a:p>
            <a:pPr algn="ctr">
              <a:spcAft>
                <a:spcPts val="1400"/>
              </a:spcAft>
              <a:defRPr sz="1800" b="0">
                <a:solidFill>
                  <a:srgbClr val="193B2A"/>
                </a:solidFill>
                <a:latin typeface="Aptos"/>
              </a:defRPr>
            </a:pPr>
            <a:r>
              <a:t>Greater Noida Institute of Technology</a:t>
            </a:r>
          </a:p>
          <a:p>
            <a:pPr algn="ctr">
              <a:spcAft>
                <a:spcPts val="1400"/>
              </a:spcAft>
              <a:defRPr sz="1800" b="0">
                <a:solidFill>
                  <a:srgbClr val="193B2A"/>
                </a:solidFill>
                <a:latin typeface="Aptos"/>
              </a:defRPr>
            </a:pPr>
            <a:r>
              <a:t>Guided by: Khushi Rattan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46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78"/>
                </a:solidFill>
              </a:defRPr>
            </a:pPr>
            <a: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